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D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85800"/>
            <a:ext cx="1920240" cy="347472"/>
          </a:xfrm>
          <a:prstGeom prst="roundRect">
            <a:avLst/>
          </a:prstGeom>
          <a:solidFill>
            <a:srgbClr val="0F1D31"/>
          </a:solidFill>
          <a:ln>
            <a:solidFill>
              <a:srgbClr val="3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740664"/>
            <a:ext cx="17830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3DDAEB"/>
                </a:solidFill>
                <a:latin typeface="Aptos"/>
              </a:defRPr>
            </a:pPr>
            <a:r>
              <a:t>BCA • MULTIMEDIA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492240" cy="1600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F5F8FF"/>
                </a:solidFill>
                <a:latin typeface="Aptos Display"/>
              </a:defRPr>
            </a:pPr>
            <a:r>
              <a:t>STORYBOARDING,</a:t>
            </a:r>
            <a:br/>
            <a:r>
              <a:t>COMBINING &amp;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53512"/>
            <a:ext cx="68580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500" b="1">
                <a:solidFill>
                  <a:srgbClr val="FFA541"/>
                </a:solidFill>
                <a:latin typeface="Aptos Display"/>
              </a:defRPr>
            </a:pPr>
            <a:r>
              <a:t>SYNCHRONISATION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30752"/>
            <a:ext cx="58521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3DDAEB"/>
                </a:solidFill>
                <a:latin typeface="Aptos"/>
              </a:defRPr>
            </a:pPr>
            <a:r>
              <a:t>OF MULTIMEDIA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5394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A9BCD2"/>
                </a:solidFill>
                <a:latin typeface="Aptos"/>
              </a:defRPr>
            </a:pPr>
            <a:r>
              <a:rPr sz="1300"/>
              <a:t>Presented by: Parray Mehran Gulzar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5394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9BCD2"/>
                </a:solidFill>
                <a:latin typeface="Aptos"/>
              </a:defRPr>
            </a:pPr>
            <a:r>
              <a:rPr sz="1200"/>
              <a:t>Roll No.: 2606027   •   BCA First 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685800"/>
            <a:ext cx="4069080" cy="4114800"/>
          </a:xfrm>
          <a:prstGeom prst="roundRect">
            <a:avLst/>
          </a:prstGeom>
          <a:solidFill>
            <a:srgbClr val="14273E"/>
          </a:solidFill>
          <a:ln>
            <a:solidFill>
              <a:srgbClr val="31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ote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749808"/>
            <a:ext cx="3941064" cy="398678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52360" y="5074920"/>
            <a:ext cx="1234440" cy="731520"/>
          </a:xfrm>
          <a:prstGeom prst="roundRect">
            <a:avLst/>
          </a:prstGeom>
          <a:solidFill>
            <a:srgbClr val="0F1D31"/>
          </a:solidFill>
          <a:ln>
            <a:solidFill>
              <a:srgbClr val="29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5074920"/>
            <a:ext cx="50292" cy="713232"/>
          </a:xfrm>
          <a:prstGeom prst="rect">
            <a:avLst/>
          </a:prstGeom>
          <a:solidFill>
            <a:srgbClr val="3DD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5184648"/>
            <a:ext cx="94183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3DDAEB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5074920"/>
            <a:ext cx="1234440" cy="731520"/>
          </a:xfrm>
          <a:prstGeom prst="roundRect">
            <a:avLst/>
          </a:prstGeom>
          <a:solidFill>
            <a:srgbClr val="0F1D31"/>
          </a:solidFill>
          <a:ln>
            <a:solidFill>
              <a:srgbClr val="29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23960" y="5074920"/>
            <a:ext cx="50292" cy="713232"/>
          </a:xfrm>
          <a:prstGeom prst="rect">
            <a:avLst/>
          </a:prstGeom>
          <a:solidFill>
            <a:srgbClr val="FF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88552" y="5184648"/>
            <a:ext cx="94183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FFA541"/>
                </a:solidFill>
                <a:latin typeface="Aptos"/>
              </a:defRPr>
            </a:pPr>
            <a:r>
              <a:t>INTEGRATE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95560" y="5074920"/>
            <a:ext cx="1234440" cy="731520"/>
          </a:xfrm>
          <a:prstGeom prst="roundRect">
            <a:avLst/>
          </a:prstGeom>
          <a:solidFill>
            <a:srgbClr val="0F1D31"/>
          </a:solidFill>
          <a:ln>
            <a:solidFill>
              <a:srgbClr val="29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195560" y="5074920"/>
            <a:ext cx="50292" cy="713232"/>
          </a:xfrm>
          <a:prstGeom prst="rect">
            <a:avLst/>
          </a:prstGeom>
          <a:solidFill>
            <a:srgbClr val="A6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60152" y="5184648"/>
            <a:ext cx="94183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A674FF"/>
                </a:solidFill>
                <a:latin typeface="Aptos"/>
              </a:defRPr>
            </a:pPr>
            <a:r>
              <a:t>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437376"/>
            <a:ext cx="7772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0">
                <a:solidFill>
                  <a:srgbClr val="A9BCD2"/>
                </a:solidFill>
                <a:latin typeface="Aptos"/>
              </a:defRPr>
            </a:pPr>
            <a: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D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8755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3DDAEB"/>
                </a:solidFill>
                <a:latin typeface="Aptos"/>
              </a:defRPr>
            </a:pPr>
            <a:r>
              <a:t>01 • PLAN THE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 Display"/>
              </a:defRPr>
            </a:pPr>
            <a:r>
              <a:t>What is storyboarding?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200" b="1">
                <a:solidFill>
                  <a:srgbClr val="FFA54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298448"/>
            <a:ext cx="731520" cy="41148"/>
          </a:xfrm>
          <a:prstGeom prst="rect">
            <a:avLst/>
          </a:prstGeom>
          <a:solidFill>
            <a:srgbClr val="FF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39496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F5F8FF"/>
                </a:solidFill>
                <a:latin typeface="Aptos Display"/>
              </a:defRPr>
            </a:pPr>
            <a:r>
              <a:t>A visual blueprint for a multimedia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521208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A9BCD2"/>
                </a:solidFill>
                <a:latin typeface="Aptos"/>
              </a:defRPr>
            </a:pPr>
            <a:r>
              <a:t>It arranges sketches or frames in sequence to show what appears on screen, what happens next, and where sound or motion belongs.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40480"/>
            <a:ext cx="1645920" cy="1234440"/>
          </a:xfrm>
          <a:prstGeom prst="roundRect">
            <a:avLst/>
          </a:prstGeom>
          <a:solidFill>
            <a:srgbClr val="0F1D31"/>
          </a:solidFill>
          <a:ln>
            <a:solidFill>
              <a:srgbClr val="29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840480"/>
            <a:ext cx="50292" cy="1216152"/>
          </a:xfrm>
          <a:prstGeom prst="rect">
            <a:avLst/>
          </a:prstGeom>
          <a:solidFill>
            <a:srgbClr val="3DD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950208"/>
            <a:ext cx="135331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3DDAEB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288536"/>
            <a:ext cx="1353312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Define the 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840480"/>
            <a:ext cx="1645920" cy="1234440"/>
          </a:xfrm>
          <a:prstGeom prst="roundRect">
            <a:avLst/>
          </a:prstGeom>
          <a:solidFill>
            <a:srgbClr val="0F1D31"/>
          </a:solidFill>
          <a:ln>
            <a:solidFill>
              <a:srgbClr val="29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14600" y="3840480"/>
            <a:ext cx="50292" cy="1216152"/>
          </a:xfrm>
          <a:prstGeom prst="rect">
            <a:avLst/>
          </a:prstGeom>
          <a:solidFill>
            <a:srgbClr val="FF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9192" y="3950208"/>
            <a:ext cx="135331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FFA541"/>
                </a:solidFill>
                <a:latin typeface="Aptos"/>
              </a:defRPr>
            </a:pPr>
            <a:r>
              <a:t>VISUALISE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9192" y="4288536"/>
            <a:ext cx="1353312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Sketch each scene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840480"/>
            <a:ext cx="1645920" cy="1234440"/>
          </a:xfrm>
          <a:prstGeom prst="roundRect">
            <a:avLst/>
          </a:prstGeom>
          <a:solidFill>
            <a:srgbClr val="0F1D31"/>
          </a:solidFill>
          <a:ln>
            <a:solidFill>
              <a:srgbClr val="29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840480"/>
            <a:ext cx="50292" cy="1216152"/>
          </a:xfrm>
          <a:prstGeom prst="rect">
            <a:avLst/>
          </a:prstGeom>
          <a:solidFill>
            <a:srgbClr val="A6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3950208"/>
            <a:ext cx="135331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A674FF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4288536"/>
            <a:ext cx="1353312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Fix gaps early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1600200"/>
            <a:ext cx="4892040" cy="4206240"/>
          </a:xfrm>
          <a:prstGeom prst="roundRect">
            <a:avLst/>
          </a:prstGeom>
          <a:solidFill>
            <a:srgbClr val="14273E"/>
          </a:solidFill>
          <a:ln>
            <a:solidFill>
              <a:srgbClr val="31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note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664208"/>
            <a:ext cx="4764024" cy="407822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1520" y="5715000"/>
            <a:ext cx="10515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3DDAEB"/>
                </a:solidFill>
                <a:latin typeface="Aptos"/>
              </a:defRPr>
            </a:pPr>
            <a:r>
              <a:t>KEY IDEA  •  Plan first, produce second.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D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8755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3DDAEB"/>
                </a:solidFill>
                <a:latin typeface="Aptos"/>
              </a:defRPr>
            </a:pPr>
            <a:r>
              <a:t>02 • BUILD A USEFUL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 Display"/>
              </a:defRPr>
            </a:pPr>
            <a:r>
              <a:t>Anatomy of a storyboard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200" b="1">
                <a:solidFill>
                  <a:srgbClr val="FFA54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298448"/>
            <a:ext cx="731520" cy="41148"/>
          </a:xfrm>
          <a:prstGeom prst="rect">
            <a:avLst/>
          </a:prstGeom>
          <a:solidFill>
            <a:srgbClr val="FF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4709160" cy="4343400"/>
          </a:xfrm>
          <a:prstGeom prst="roundRect">
            <a:avLst/>
          </a:prstGeom>
          <a:solidFill>
            <a:srgbClr val="14273E"/>
          </a:solidFill>
          <a:ln>
            <a:solidFill>
              <a:srgbClr val="31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64208"/>
            <a:ext cx="4581144" cy="42153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806440" y="1600200"/>
            <a:ext cx="5440680" cy="694944"/>
          </a:xfrm>
          <a:prstGeom prst="roundRect">
            <a:avLst/>
          </a:prstGeom>
          <a:solidFill>
            <a:srgbClr val="0F1D31"/>
          </a:solidFill>
          <a:ln>
            <a:solidFill>
              <a:srgbClr val="29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1600200"/>
            <a:ext cx="50292" cy="676656"/>
          </a:xfrm>
          <a:prstGeom prst="rect">
            <a:avLst/>
          </a:prstGeom>
          <a:solidFill>
            <a:srgbClr val="3DD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1031" y="1709928"/>
            <a:ext cx="514807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3DDAEB"/>
                </a:solidFill>
                <a:latin typeface="Aptos"/>
              </a:defRPr>
            </a:pPr>
            <a:r>
              <a:t>FRAME &amp; SCENE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1" y="2048256"/>
            <a:ext cx="5148072" cy="192023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Number each panel and name the scene.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2432304"/>
            <a:ext cx="5440680" cy="694944"/>
          </a:xfrm>
          <a:prstGeom prst="roundRect">
            <a:avLst/>
          </a:prstGeom>
          <a:solidFill>
            <a:srgbClr val="0F1D31"/>
          </a:solidFill>
          <a:ln>
            <a:solidFill>
              <a:srgbClr val="29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2432304"/>
            <a:ext cx="50292" cy="676656"/>
          </a:xfrm>
          <a:prstGeom prst="rect">
            <a:avLst/>
          </a:prstGeom>
          <a:solidFill>
            <a:srgbClr val="FF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1" y="2542032"/>
            <a:ext cx="514807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FFA541"/>
                </a:solidFill>
                <a:latin typeface="Aptos"/>
              </a:defRPr>
            </a:pPr>
            <a:r>
              <a:t>VISUAL SKETCH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1" y="2880360"/>
            <a:ext cx="5148072" cy="192023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Show layout, action and focal point.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3264408"/>
            <a:ext cx="5440680" cy="694944"/>
          </a:xfrm>
          <a:prstGeom prst="roundRect">
            <a:avLst/>
          </a:prstGeom>
          <a:solidFill>
            <a:srgbClr val="0F1D31"/>
          </a:solidFill>
          <a:ln>
            <a:solidFill>
              <a:srgbClr val="29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06440" y="3264408"/>
            <a:ext cx="50292" cy="676656"/>
          </a:xfrm>
          <a:prstGeom prst="rect">
            <a:avLst/>
          </a:prstGeom>
          <a:solidFill>
            <a:srgbClr val="FF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1" y="3374136"/>
            <a:ext cx="514807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FF5E91"/>
                </a:solidFill>
                <a:latin typeface="Aptos"/>
              </a:defRPr>
            </a:pPr>
            <a:r>
              <a:t>TEXT / CAPTION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1" y="3712464"/>
            <a:ext cx="5148072" cy="192023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Write on-screen words or dialogue.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4096512"/>
            <a:ext cx="5440680" cy="694944"/>
          </a:xfrm>
          <a:prstGeom prst="roundRect">
            <a:avLst/>
          </a:prstGeom>
          <a:solidFill>
            <a:srgbClr val="0F1D31"/>
          </a:solidFill>
          <a:ln>
            <a:solidFill>
              <a:srgbClr val="29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06440" y="4096512"/>
            <a:ext cx="50292" cy="676656"/>
          </a:xfrm>
          <a:prstGeom prst="rect">
            <a:avLst/>
          </a:prstGeom>
          <a:solidFill>
            <a:srgbClr val="A6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71031" y="4206240"/>
            <a:ext cx="514807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A674FF"/>
                </a:solidFill>
                <a:latin typeface="Aptos"/>
              </a:defRPr>
            </a:pPr>
            <a:r>
              <a:t>AUDIO NOTES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1031" y="4544568"/>
            <a:ext cx="5148072" cy="192023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Mark narration, music and sound effects.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4928616"/>
            <a:ext cx="5440680" cy="694944"/>
          </a:xfrm>
          <a:prstGeom prst="roundRect">
            <a:avLst/>
          </a:prstGeom>
          <a:solidFill>
            <a:srgbClr val="0F1D31"/>
          </a:solidFill>
          <a:ln>
            <a:solidFill>
              <a:srgbClr val="29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06440" y="4928616"/>
            <a:ext cx="50292" cy="676656"/>
          </a:xfrm>
          <a:prstGeom prst="rect">
            <a:avLst/>
          </a:prstGeom>
          <a:solidFill>
            <a:srgbClr val="48D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71031" y="5038344"/>
            <a:ext cx="514807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48DEA4"/>
                </a:solidFill>
                <a:latin typeface="Aptos"/>
              </a:defRPr>
            </a:pPr>
            <a:r>
              <a:t>TIMING / MOTION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71031" y="5376672"/>
            <a:ext cx="5148072" cy="192023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Note duration, transitions and movement.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D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8755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3DDAEB"/>
                </a:solidFill>
                <a:latin typeface="Aptos"/>
              </a:defRPr>
            </a:pPr>
            <a:r>
              <a:t>03 • FROM IDEA TO 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 Display"/>
              </a:defRPr>
            </a:pPr>
            <a:r>
              <a:t>Six steps in storyboarding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200" b="1">
                <a:solidFill>
                  <a:srgbClr val="FFA54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298448"/>
            <a:ext cx="731520" cy="41148"/>
          </a:xfrm>
          <a:prstGeom prst="rect">
            <a:avLst/>
          </a:prstGeom>
          <a:solidFill>
            <a:srgbClr val="FF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429000" cy="1508760"/>
          </a:xfrm>
          <a:prstGeom prst="roundRect">
            <a:avLst/>
          </a:prstGeom>
          <a:solidFill>
            <a:srgbClr val="0F1D31"/>
          </a:solidFill>
          <a:ln>
            <a:solidFill>
              <a:srgbClr val="2A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502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3DDAEB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20240"/>
            <a:ext cx="24231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"/>
              </a:defRPr>
            </a:pPr>
            <a:r>
              <a:t>Define the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59152"/>
            <a:ext cx="23317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9BCD2"/>
                </a:solidFill>
                <a:latin typeface="Aptos"/>
              </a:defRPr>
            </a:pPr>
            <a:r>
              <a:t>Purpose + audience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670048"/>
            <a:ext cx="320040" cy="320040"/>
          </a:xfrm>
          <a:prstGeom prst="ellipse">
            <a:avLst/>
          </a:prstGeom>
          <a:solidFill>
            <a:srgbClr val="3DD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1737360"/>
            <a:ext cx="3429000" cy="1508760"/>
          </a:xfrm>
          <a:prstGeom prst="roundRect">
            <a:avLst/>
          </a:prstGeom>
          <a:solidFill>
            <a:srgbClr val="0F1D31"/>
          </a:solidFill>
          <a:ln>
            <a:solidFill>
              <a:srgbClr val="2A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901952"/>
            <a:ext cx="502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FFA541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920240"/>
            <a:ext cx="24231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"/>
              </a:defRPr>
            </a:pPr>
            <a:r>
              <a:t>Write the 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359152"/>
            <a:ext cx="23317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9BCD2"/>
                </a:solidFill>
                <a:latin typeface="Aptos"/>
              </a:defRPr>
            </a:pPr>
            <a:r>
              <a:t>Key points + narration</a:t>
            </a:r>
          </a:p>
        </p:txBody>
      </p:sp>
      <p:sp>
        <p:nvSpPr>
          <p:cNvPr id="16" name="Oval 15"/>
          <p:cNvSpPr/>
          <p:nvPr/>
        </p:nvSpPr>
        <p:spPr>
          <a:xfrm>
            <a:off x="4690872" y="2670048"/>
            <a:ext cx="320040" cy="320040"/>
          </a:xfrm>
          <a:prstGeom prst="ellipse">
            <a:avLst/>
          </a:prstGeom>
          <a:solidFill>
            <a:srgbClr val="FF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75320" y="1737360"/>
            <a:ext cx="3429000" cy="1508760"/>
          </a:xfrm>
          <a:prstGeom prst="roundRect">
            <a:avLst/>
          </a:prstGeom>
          <a:solidFill>
            <a:srgbClr val="0F1D31"/>
          </a:solidFill>
          <a:ln>
            <a:solidFill>
              <a:srgbClr val="2A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901952"/>
            <a:ext cx="502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48DEA4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920240"/>
            <a:ext cx="24231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"/>
              </a:defRPr>
            </a:pPr>
            <a:r>
              <a:t>Split into scenes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359152"/>
            <a:ext cx="23317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9BCD2"/>
                </a:solidFill>
                <a:latin typeface="Aptos"/>
              </a:defRPr>
            </a:pPr>
            <a:r>
              <a:t>One clear idea per frame</a:t>
            </a:r>
          </a:p>
        </p:txBody>
      </p:sp>
      <p:sp>
        <p:nvSpPr>
          <p:cNvPr id="21" name="Oval 20"/>
          <p:cNvSpPr/>
          <p:nvPr/>
        </p:nvSpPr>
        <p:spPr>
          <a:xfrm>
            <a:off x="8485632" y="2670048"/>
            <a:ext cx="320040" cy="320040"/>
          </a:xfrm>
          <a:prstGeom prst="ellipse">
            <a:avLst/>
          </a:prstGeom>
          <a:solidFill>
            <a:srgbClr val="48D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703320"/>
            <a:ext cx="3429000" cy="1508760"/>
          </a:xfrm>
          <a:prstGeom prst="roundRect">
            <a:avLst/>
          </a:prstGeom>
          <a:solidFill>
            <a:srgbClr val="0F1D31"/>
          </a:solidFill>
          <a:ln>
            <a:solidFill>
              <a:srgbClr val="2A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867911"/>
            <a:ext cx="502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A674FF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886200"/>
            <a:ext cx="24231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"/>
              </a:defRPr>
            </a:pPr>
            <a:r>
              <a:t>Sketch the frames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325112"/>
            <a:ext cx="23317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9BCD2"/>
                </a:solidFill>
                <a:latin typeface="Aptos"/>
              </a:defRPr>
            </a:pPr>
            <a:r>
              <a:t>Plan layout and action</a:t>
            </a:r>
          </a:p>
        </p:txBody>
      </p:sp>
      <p:sp>
        <p:nvSpPr>
          <p:cNvPr id="26" name="Oval 25"/>
          <p:cNvSpPr/>
          <p:nvPr/>
        </p:nvSpPr>
        <p:spPr>
          <a:xfrm>
            <a:off x="896112" y="4636008"/>
            <a:ext cx="320040" cy="320040"/>
          </a:xfrm>
          <a:prstGeom prst="ellipse">
            <a:avLst/>
          </a:prstGeom>
          <a:solidFill>
            <a:srgbClr val="A6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80560" y="3703320"/>
            <a:ext cx="3429000" cy="1508760"/>
          </a:xfrm>
          <a:prstGeom prst="roundRect">
            <a:avLst/>
          </a:prstGeom>
          <a:solidFill>
            <a:srgbClr val="0F1D31"/>
          </a:solidFill>
          <a:ln>
            <a:solidFill>
              <a:srgbClr val="2A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3867911"/>
            <a:ext cx="502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FF5E91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3886200"/>
            <a:ext cx="24231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"/>
              </a:defRPr>
            </a:pPr>
            <a:r>
              <a:t>Add timing + audio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4325112"/>
            <a:ext cx="23317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9BCD2"/>
                </a:solidFill>
                <a:latin typeface="Aptos"/>
              </a:defRPr>
            </a:pPr>
            <a:r>
              <a:t>Music, effects, duration</a:t>
            </a:r>
          </a:p>
        </p:txBody>
      </p:sp>
      <p:sp>
        <p:nvSpPr>
          <p:cNvPr id="31" name="Oval 30"/>
          <p:cNvSpPr/>
          <p:nvPr/>
        </p:nvSpPr>
        <p:spPr>
          <a:xfrm>
            <a:off x="4690872" y="4636008"/>
            <a:ext cx="320040" cy="320040"/>
          </a:xfrm>
          <a:prstGeom prst="ellipse">
            <a:avLst/>
          </a:prstGeom>
          <a:solidFill>
            <a:srgbClr val="FF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75320" y="3703320"/>
            <a:ext cx="3429000" cy="1508760"/>
          </a:xfrm>
          <a:prstGeom prst="roundRect">
            <a:avLst/>
          </a:prstGeom>
          <a:solidFill>
            <a:srgbClr val="0F1D31"/>
          </a:solidFill>
          <a:ln>
            <a:solidFill>
              <a:srgbClr val="2A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3867911"/>
            <a:ext cx="502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3DDAEB"/>
                </a:solidFill>
                <a:latin typeface="Aptos Display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3886200"/>
            <a:ext cx="24231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F5F8FF"/>
                </a:solidFill>
                <a:latin typeface="Aptos"/>
              </a:defRPr>
            </a:pPr>
            <a:r>
              <a:t>Review + revise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4325112"/>
            <a:ext cx="23317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9BCD2"/>
                </a:solidFill>
                <a:latin typeface="Aptos"/>
              </a:defRPr>
            </a:pPr>
            <a:r>
              <a:t>Check sequence and clarity</a:t>
            </a:r>
          </a:p>
        </p:txBody>
      </p:sp>
      <p:sp>
        <p:nvSpPr>
          <p:cNvPr id="36" name="Oval 35"/>
          <p:cNvSpPr/>
          <p:nvPr/>
        </p:nvSpPr>
        <p:spPr>
          <a:xfrm>
            <a:off x="8485632" y="4636008"/>
            <a:ext cx="320040" cy="320040"/>
          </a:xfrm>
          <a:prstGeom prst="ellipse">
            <a:avLst/>
          </a:prstGeom>
          <a:solidFill>
            <a:srgbClr val="3DD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3DDAEB"/>
                </a:solidFill>
                <a:latin typeface="Aptos"/>
              </a:defRPr>
            </a:pPr>
            <a:r>
              <a:t>A good storyboard is clear enough for another person to follow.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D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8755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3DDAEB"/>
                </a:solidFill>
                <a:latin typeface="Aptos"/>
              </a:defRPr>
            </a:pPr>
            <a:r>
              <a:t>04 • A STORYBOARD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 Display"/>
              </a:defRPr>
            </a:pPr>
            <a:r>
              <a:t>Example: The water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200" b="1">
                <a:solidFill>
                  <a:srgbClr val="FFA54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298448"/>
            <a:ext cx="731520" cy="41148"/>
          </a:xfrm>
          <a:prstGeom prst="rect">
            <a:avLst/>
          </a:prstGeom>
          <a:solidFill>
            <a:srgbClr val="FF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760720" cy="4160520"/>
          </a:xfrm>
          <a:prstGeom prst="roundRect">
            <a:avLst/>
          </a:prstGeom>
          <a:solidFill>
            <a:srgbClr val="14273E"/>
          </a:solidFill>
          <a:ln>
            <a:solidFill>
              <a:srgbClr val="31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a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09928"/>
            <a:ext cx="5632704" cy="40325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12280" y="1783080"/>
            <a:ext cx="4526280" cy="749808"/>
          </a:xfrm>
          <a:prstGeom prst="roundRect">
            <a:avLst/>
          </a:prstGeom>
          <a:solidFill>
            <a:srgbClr val="0F1D31"/>
          </a:solidFill>
          <a:ln>
            <a:solidFill>
              <a:srgbClr val="29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12280" y="1783080"/>
            <a:ext cx="50292" cy="731519"/>
          </a:xfrm>
          <a:prstGeom prst="rect">
            <a:avLst/>
          </a:prstGeom>
          <a:solidFill>
            <a:srgbClr val="3DD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76872" y="1892807"/>
            <a:ext cx="423367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3DDAEB"/>
                </a:solidFill>
                <a:latin typeface="Aptos"/>
              </a:defRPr>
            </a:pPr>
            <a:r>
              <a:t>01  EVAPORATION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2231136"/>
            <a:ext cx="4233672" cy="24688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Sun heats water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724912"/>
            <a:ext cx="4526280" cy="749808"/>
          </a:xfrm>
          <a:prstGeom prst="roundRect">
            <a:avLst/>
          </a:prstGeom>
          <a:solidFill>
            <a:srgbClr val="0F1D31"/>
          </a:solidFill>
          <a:ln>
            <a:solidFill>
              <a:srgbClr val="29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12280" y="2724912"/>
            <a:ext cx="50292" cy="731519"/>
          </a:xfrm>
          <a:prstGeom prst="rect">
            <a:avLst/>
          </a:prstGeom>
          <a:solidFill>
            <a:srgbClr val="A6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834640"/>
            <a:ext cx="423367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A674FF"/>
                </a:solidFill>
                <a:latin typeface="Aptos"/>
              </a:defRPr>
            </a:pPr>
            <a:r>
              <a:t>02  CONDENSATION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3172968"/>
            <a:ext cx="4233672" cy="24688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Clouds 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3666744"/>
            <a:ext cx="4526280" cy="749808"/>
          </a:xfrm>
          <a:prstGeom prst="roundRect">
            <a:avLst/>
          </a:prstGeom>
          <a:solidFill>
            <a:srgbClr val="0F1D31"/>
          </a:solidFill>
          <a:ln>
            <a:solidFill>
              <a:srgbClr val="29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12280" y="3666744"/>
            <a:ext cx="50292" cy="731519"/>
          </a:xfrm>
          <a:prstGeom prst="rect">
            <a:avLst/>
          </a:prstGeom>
          <a:solidFill>
            <a:srgbClr val="FF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872" y="3776472"/>
            <a:ext cx="423367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FFA541"/>
                </a:solidFill>
                <a:latin typeface="Aptos"/>
              </a:defRPr>
            </a:pPr>
            <a:r>
              <a:t>03  PRECIPITATION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4114800"/>
            <a:ext cx="4233672" cy="24688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Rain falls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4608576"/>
            <a:ext cx="4526280" cy="749808"/>
          </a:xfrm>
          <a:prstGeom prst="roundRect">
            <a:avLst/>
          </a:prstGeom>
          <a:solidFill>
            <a:srgbClr val="0F1D31"/>
          </a:solidFill>
          <a:ln>
            <a:solidFill>
              <a:srgbClr val="29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12280" y="4608576"/>
            <a:ext cx="50292" cy="731519"/>
          </a:xfrm>
          <a:prstGeom prst="rect">
            <a:avLst/>
          </a:prstGeom>
          <a:solidFill>
            <a:srgbClr val="48D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4718304"/>
            <a:ext cx="423367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48DEA4"/>
                </a:solidFill>
                <a:latin typeface="Aptos"/>
              </a:defRPr>
            </a:pPr>
            <a:r>
              <a:t>04  COLLECTION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5056632"/>
            <a:ext cx="4233672" cy="24688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Water gathers again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715000"/>
            <a:ext cx="43891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A9BCD2"/>
                </a:solidFill>
                <a:latin typeface="Aptos"/>
              </a:defRPr>
            </a:pPr>
            <a:r>
              <a:t>Narration and animation follow the same sequence.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D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8755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3DDAEB"/>
                </a:solidFill>
                <a:latin typeface="Aptos"/>
              </a:defRPr>
            </a:pPr>
            <a:r>
              <a:t>05 • MAKE MEDIA 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 Display"/>
              </a:defRPr>
            </a:pPr>
            <a:r>
              <a:t>Combining multimedia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200" b="1">
                <a:solidFill>
                  <a:srgbClr val="FFA54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298448"/>
            <a:ext cx="731520" cy="41148"/>
          </a:xfrm>
          <a:prstGeom prst="rect">
            <a:avLst/>
          </a:prstGeom>
          <a:solidFill>
            <a:srgbClr val="FF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4663440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100" b="1">
                <a:solidFill>
                  <a:srgbClr val="F5F8FF"/>
                </a:solidFill>
                <a:latin typeface="Aptos Display"/>
              </a:defRPr>
            </a:pPr>
            <a:r>
              <a:t>Integration brings different media into one coherent experience.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Text — titles, labels and explanations</a:t>
            </a:r>
          </a:p>
          <a:p>
            <a:pPr>
              <a:spcAft>
                <a:spcPts val="12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Images / graphics — show objects and ideas</a:t>
            </a:r>
          </a:p>
          <a:p>
            <a:pPr>
              <a:spcAft>
                <a:spcPts val="12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Audio — narration, music and sound effects</a:t>
            </a:r>
          </a:p>
          <a:p>
            <a:pPr>
              <a:spcAft>
                <a:spcPts val="12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Video — demonstrate real events</a:t>
            </a:r>
          </a:p>
          <a:p>
            <a:pPr>
              <a:spcAft>
                <a:spcPts val="12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Animation + controls — explain motion and invite interaction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600200"/>
            <a:ext cx="5440680" cy="4389120"/>
          </a:xfrm>
          <a:prstGeom prst="roundRect">
            <a:avLst/>
          </a:prstGeom>
          <a:solidFill>
            <a:srgbClr val="14273E"/>
          </a:solidFill>
          <a:ln>
            <a:solidFill>
              <a:srgbClr val="31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664208"/>
            <a:ext cx="5312664" cy="426110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77240" y="5715000"/>
            <a:ext cx="2286000" cy="347472"/>
          </a:xfrm>
          <a:prstGeom prst="roundRect">
            <a:avLst/>
          </a:prstGeom>
          <a:solidFill>
            <a:srgbClr val="0F1D31"/>
          </a:solidFill>
          <a:ln>
            <a:solidFill>
              <a:srgbClr val="FFA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769864"/>
            <a:ext cx="2103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FFA541"/>
                </a:solidFill>
                <a:latin typeface="Aptos"/>
              </a:defRPr>
            </a:pPr>
            <a:r>
              <a:t>ONE COHERENT EXPERIENCE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D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8755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3DDAEB"/>
                </a:solidFill>
                <a:latin typeface="Aptos"/>
              </a:defRPr>
            </a:pPr>
            <a:r>
              <a:t>06 • PRODUCTION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 Display"/>
              </a:defRPr>
            </a:pPr>
            <a:r>
              <a:t>How the elements are combined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200" b="1">
                <a:solidFill>
                  <a:srgbClr val="FFA54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298448"/>
            <a:ext cx="731520" cy="41148"/>
          </a:xfrm>
          <a:prstGeom prst="rect">
            <a:avLst/>
          </a:prstGeom>
          <a:solidFill>
            <a:srgbClr val="FF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1627632" cy="1965960"/>
          </a:xfrm>
          <a:prstGeom prst="roundRect">
            <a:avLst/>
          </a:prstGeom>
          <a:solidFill>
            <a:srgbClr val="0F1D31"/>
          </a:solidFill>
          <a:ln>
            <a:solidFill>
              <a:srgbClr val="3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057400"/>
            <a:ext cx="1353312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200" b="1">
                <a:solidFill>
                  <a:srgbClr val="3DDAEB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06040"/>
            <a:ext cx="144475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3035808"/>
            <a:ext cx="1408176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0">
                <a:solidFill>
                  <a:srgbClr val="A9BCD2"/>
                </a:solidFill>
                <a:latin typeface="Aptos"/>
              </a:defRPr>
            </a:pPr>
            <a:r>
              <a:t>Choose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03704" y="2606040"/>
            <a:ext cx="25603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300" b="1">
                <a:solidFill>
                  <a:srgbClr val="FFA54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87168" y="1874519"/>
            <a:ext cx="1627632" cy="1965960"/>
          </a:xfrm>
          <a:prstGeom prst="roundRect">
            <a:avLst/>
          </a:prstGeom>
          <a:solidFill>
            <a:srgbClr val="0F1D31"/>
          </a:solidFill>
          <a:ln>
            <a:solidFill>
              <a:srgbClr val="FFA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24328" y="2057400"/>
            <a:ext cx="1353312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200" b="1">
                <a:solidFill>
                  <a:srgbClr val="FFA541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2606040"/>
            <a:ext cx="144475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3035808"/>
            <a:ext cx="1408176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0">
                <a:solidFill>
                  <a:srgbClr val="A9BCD2"/>
                </a:solidFill>
                <a:latin typeface="Aptos"/>
              </a:defRPr>
            </a:pPr>
            <a:r>
              <a:t>Gather / create media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23944" y="2606040"/>
            <a:ext cx="25603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300" b="1">
                <a:solidFill>
                  <a:srgbClr val="FFA54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7408" y="1874519"/>
            <a:ext cx="1627632" cy="1965960"/>
          </a:xfrm>
          <a:prstGeom prst="roundRect">
            <a:avLst/>
          </a:prstGeom>
          <a:solidFill>
            <a:srgbClr val="0F1D31"/>
          </a:solidFill>
          <a:ln>
            <a:solidFill>
              <a:srgbClr val="48DE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2057400"/>
            <a:ext cx="1353312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200" b="1">
                <a:solidFill>
                  <a:srgbClr val="48DEA4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606040"/>
            <a:ext cx="144475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EDIT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3035808"/>
            <a:ext cx="1408176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0">
                <a:solidFill>
                  <a:srgbClr val="A9BCD2"/>
                </a:solidFill>
                <a:latin typeface="Aptos"/>
              </a:defRPr>
            </a:pPr>
            <a:r>
              <a:t>Improve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44184" y="2606040"/>
            <a:ext cx="25603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300" b="1">
                <a:solidFill>
                  <a:srgbClr val="FFA54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7648" y="1874519"/>
            <a:ext cx="1627632" cy="1965960"/>
          </a:xfrm>
          <a:prstGeom prst="roundRect">
            <a:avLst/>
          </a:prstGeom>
          <a:solidFill>
            <a:srgbClr val="0F1D31"/>
          </a:solidFill>
          <a:ln>
            <a:solidFill>
              <a:srgbClr val="A6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2057400"/>
            <a:ext cx="1353312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200" b="1">
                <a:solidFill>
                  <a:srgbClr val="A674FF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2606040"/>
            <a:ext cx="144475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INTEGRATE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3035808"/>
            <a:ext cx="1408176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0">
                <a:solidFill>
                  <a:srgbClr val="A9BCD2"/>
                </a:solidFill>
                <a:latin typeface="Aptos"/>
              </a:defRPr>
            </a:pPr>
            <a:r>
              <a:t>Arrange in software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4424" y="2606040"/>
            <a:ext cx="25603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300" b="1">
                <a:solidFill>
                  <a:srgbClr val="FFA54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1874519"/>
            <a:ext cx="1627632" cy="1965960"/>
          </a:xfrm>
          <a:prstGeom prst="roundRect">
            <a:avLst/>
          </a:prstGeom>
          <a:solidFill>
            <a:srgbClr val="0F1D31"/>
          </a:solidFill>
          <a:ln>
            <a:solidFill>
              <a:srgbClr val="FF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5048" y="2057400"/>
            <a:ext cx="1353312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200" b="1">
                <a:solidFill>
                  <a:srgbClr val="FF5E91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2606040"/>
            <a:ext cx="144475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5" y="3035808"/>
            <a:ext cx="1408176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0">
                <a:solidFill>
                  <a:srgbClr val="A9BCD2"/>
                </a:solidFill>
                <a:latin typeface="Aptos"/>
              </a:defRPr>
            </a:pPr>
            <a:r>
              <a:t>Consistent layout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84663" y="2606040"/>
            <a:ext cx="25603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300" b="1">
                <a:solidFill>
                  <a:srgbClr val="FFA54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68128" y="1874519"/>
            <a:ext cx="1627632" cy="1965960"/>
          </a:xfrm>
          <a:prstGeom prst="roundRect">
            <a:avLst/>
          </a:prstGeom>
          <a:solidFill>
            <a:srgbClr val="0F1D31"/>
          </a:solidFill>
          <a:ln>
            <a:solidFill>
              <a:srgbClr val="3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05288" y="2057400"/>
            <a:ext cx="1353312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200" b="1">
                <a:solidFill>
                  <a:srgbClr val="3DDAEB"/>
                </a:solidFill>
                <a:latin typeface="Aptos Display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9567" y="2606040"/>
            <a:ext cx="144475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77855" y="3035808"/>
            <a:ext cx="1408176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0">
                <a:solidFill>
                  <a:srgbClr val="A9BCD2"/>
                </a:solidFill>
                <a:latin typeface="Aptos"/>
              </a:defRPr>
            </a:pPr>
            <a:r>
              <a:t>Check playback + controls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251960"/>
            <a:ext cx="6492240" cy="1600200"/>
          </a:xfrm>
          <a:prstGeom prst="roundRect">
            <a:avLst/>
          </a:prstGeom>
          <a:solidFill>
            <a:srgbClr val="14273E"/>
          </a:solidFill>
          <a:ln>
            <a:solidFill>
              <a:srgbClr val="314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7" y="4315968"/>
            <a:ext cx="6364224" cy="1472184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7635240" y="4343400"/>
            <a:ext cx="3611880" cy="1325880"/>
          </a:xfrm>
          <a:prstGeom prst="roundRect">
            <a:avLst/>
          </a:prstGeom>
          <a:solidFill>
            <a:srgbClr val="0F1D31"/>
          </a:solidFill>
          <a:ln>
            <a:solidFill>
              <a:srgbClr val="29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35240" y="4343400"/>
            <a:ext cx="50292" cy="1307592"/>
          </a:xfrm>
          <a:prstGeom prst="rect">
            <a:avLst/>
          </a:prstGeom>
          <a:solidFill>
            <a:srgbClr val="FF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99831" y="4453128"/>
            <a:ext cx="331927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FFA541"/>
                </a:solidFill>
                <a:latin typeface="Aptos"/>
              </a:defRPr>
            </a:pPr>
            <a:r>
              <a:t>QUALITY CHECK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99831" y="4791456"/>
            <a:ext cx="3319272" cy="82295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F5F8FF"/>
                </a:solidFill>
                <a:latin typeface="Aptos"/>
              </a:defRPr>
            </a:pPr>
            <a:r>
              <a:t>Compatible formats • balanced volume • readable text • working controls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D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8755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3DDAEB"/>
                </a:solidFill>
                <a:latin typeface="Aptos"/>
              </a:defRPr>
            </a:pPr>
            <a:r>
              <a:t>07 • TIMING IS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 Display"/>
              </a:defRPr>
            </a:pPr>
            <a:r>
              <a:t>Synchronisation of multimedia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200" b="1">
                <a:solidFill>
                  <a:srgbClr val="FFA54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298448"/>
            <a:ext cx="731520" cy="41148"/>
          </a:xfrm>
          <a:prstGeom prst="rect">
            <a:avLst/>
          </a:prstGeom>
          <a:solidFill>
            <a:srgbClr val="FF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46634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100" b="1">
                <a:solidFill>
                  <a:srgbClr val="F5F8FF"/>
                </a:solidFill>
                <a:latin typeface="Aptos Display"/>
              </a:defRPr>
            </a:pPr>
            <a:r>
              <a:t>Synchronisation coordinates media so events happen at the right time and in the right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 Audio matches video and lip movement.</a:t>
            </a:r>
          </a:p>
          <a:p>
            <a:pPr>
              <a:spcAft>
                <a:spcPts val="12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 Narration explains visuals as they appear.</a:t>
            </a:r>
          </a:p>
          <a:p>
            <a:pPr>
              <a:spcAft>
                <a:spcPts val="12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 Subtitles align with spoken dialogue.</a:t>
            </a:r>
          </a:p>
          <a:p>
            <a:pPr>
              <a:spcAft>
                <a:spcPts val="12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 Sound effects match actions on screen.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645920"/>
            <a:ext cx="5440680" cy="640080"/>
          </a:xfrm>
          <a:prstGeom prst="roundRect">
            <a:avLst/>
          </a:prstGeom>
          <a:solidFill>
            <a:srgbClr val="0F1D31"/>
          </a:solidFill>
          <a:ln>
            <a:solidFill>
              <a:srgbClr val="29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1645920"/>
            <a:ext cx="50292" cy="621792"/>
          </a:xfrm>
          <a:prstGeom prst="rect">
            <a:avLst/>
          </a:prstGeom>
          <a:solidFill>
            <a:srgbClr val="3DD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1031" y="1755648"/>
            <a:ext cx="514807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3DDAEB"/>
                </a:solidFill>
                <a:latin typeface="Aptos"/>
              </a:defRPr>
            </a:pPr>
            <a:r>
              <a:t>EXAMPLE TIMELINE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606040"/>
            <a:ext cx="8686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3DDAEB"/>
                </a:solidFill>
                <a:latin typeface="Aptos"/>
              </a:defRPr>
            </a:pPr>
            <a:r>
              <a:t>VIDEO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587752"/>
            <a:ext cx="4069080" cy="320040"/>
          </a:xfrm>
          <a:prstGeom prst="round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0" y="2587752"/>
            <a:ext cx="2560320" cy="320040"/>
          </a:xfrm>
          <a:prstGeom prst="roundRect">
            <a:avLst/>
          </a:prstGeom>
          <a:solidFill>
            <a:srgbClr val="3DD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2487168"/>
            <a:ext cx="22860" cy="25146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3319272"/>
            <a:ext cx="8686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A674FF"/>
                </a:solidFill>
                <a:latin typeface="Aptos"/>
              </a:defRPr>
            </a:pPr>
            <a:r>
              <a:t>AUDIO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3300984"/>
            <a:ext cx="4069080" cy="320040"/>
          </a:xfrm>
          <a:prstGeom prst="round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29450" y="3300984"/>
            <a:ext cx="2304288" cy="320040"/>
          </a:xfrm>
          <a:prstGeom prst="roundRect">
            <a:avLst/>
          </a:prstGeom>
          <a:solidFill>
            <a:srgbClr val="A6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2487168"/>
            <a:ext cx="22860" cy="25146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4032504"/>
            <a:ext cx="8686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48DEA4"/>
                </a:solidFill>
                <a:latin typeface="Aptos"/>
              </a:defRPr>
            </a:pPr>
            <a:r>
              <a:t>CAPTIONS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4014216"/>
            <a:ext cx="4069080" cy="320040"/>
          </a:xfrm>
          <a:prstGeom prst="round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09459" y="4014216"/>
            <a:ext cx="1920239" cy="320040"/>
          </a:xfrm>
          <a:prstGeom prst="roundRect">
            <a:avLst/>
          </a:prstGeom>
          <a:solidFill>
            <a:srgbClr val="48D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20" y="2487168"/>
            <a:ext cx="22860" cy="25146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4745736"/>
            <a:ext cx="8686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FFA541"/>
                </a:solidFill>
                <a:latin typeface="Aptos"/>
              </a:defRPr>
            </a:pPr>
            <a:r>
              <a:t>ANIMATION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4727448"/>
            <a:ext cx="4069080" cy="320040"/>
          </a:xfrm>
          <a:prstGeom prst="round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26580" y="4727448"/>
            <a:ext cx="2432303" cy="320040"/>
          </a:xfrm>
          <a:prstGeom prst="roundRect">
            <a:avLst/>
          </a:prstGeom>
          <a:solidFill>
            <a:srgbClr val="FF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2487168"/>
            <a:ext cx="22860" cy="25146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5715000"/>
            <a:ext cx="52120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3DDAEB"/>
                </a:solidFill>
                <a:latin typeface="Aptos"/>
              </a:defRPr>
            </a:pPr>
            <a:r>
              <a:t>A shared timeline makes timing errors easier to spot.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D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8755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3DDAEB"/>
                </a:solidFill>
                <a:latin typeface="Aptos"/>
              </a:defRPr>
            </a:pPr>
            <a:r>
              <a:t>08 • PUT IT INTO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5F8FF"/>
                </a:solidFill>
                <a:latin typeface="Aptos Display"/>
              </a:defRPr>
            </a:pPr>
            <a:r>
              <a:t>Types, methods &amp; final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65760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200" b="1">
                <a:solidFill>
                  <a:srgbClr val="FFA54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298448"/>
            <a:ext cx="731520" cy="41148"/>
          </a:xfrm>
          <a:prstGeom prst="rect">
            <a:avLst/>
          </a:prstGeom>
          <a:solidFill>
            <a:srgbClr val="FF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074920" cy="3337560"/>
          </a:xfrm>
          <a:prstGeom prst="roundRect">
            <a:avLst/>
          </a:prstGeom>
          <a:solidFill>
            <a:srgbClr val="0F1D31"/>
          </a:solidFill>
          <a:ln>
            <a:solidFill>
              <a:srgbClr val="29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50292" cy="3319272"/>
          </a:xfrm>
          <a:prstGeom prst="rect">
            <a:avLst/>
          </a:prstGeom>
          <a:solidFill>
            <a:srgbClr val="3DD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755648"/>
            <a:ext cx="478231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3DDAEB"/>
                </a:solidFill>
                <a:latin typeface="Aptos"/>
              </a:defRPr>
            </a:pPr>
            <a:r>
              <a:t>TYPES OF SYNCHRONISATION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93976"/>
            <a:ext cx="4782312" cy="28346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Audio–video: speech matches the picture</a:t>
            </a:r>
            <a:br/>
            <a:br/>
            <a:r>
              <a:t>• Audio–animation: sound follows movement</a:t>
            </a:r>
            <a:br/>
            <a:br/>
            <a:r>
              <a:t>• Subtitle timing: captions match dialogue</a:t>
            </a:r>
            <a:br/>
            <a:br/>
            <a:r>
              <a:t>• Temporal: events occur in the correct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645920"/>
            <a:ext cx="5257800" cy="3337560"/>
          </a:xfrm>
          <a:prstGeom prst="roundRect">
            <a:avLst/>
          </a:prstGeom>
          <a:solidFill>
            <a:srgbClr val="0F1D31"/>
          </a:solidFill>
          <a:ln>
            <a:solidFill>
              <a:srgbClr val="294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645920"/>
            <a:ext cx="50292" cy="3319272"/>
          </a:xfrm>
          <a:prstGeom prst="rect">
            <a:avLst/>
          </a:prstGeom>
          <a:solidFill>
            <a:srgbClr val="FF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1755648"/>
            <a:ext cx="496519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FFA541"/>
                </a:solidFill>
                <a:latin typeface="Aptos"/>
              </a:defRPr>
            </a:pPr>
            <a:r>
              <a:t>COMMON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2093976"/>
            <a:ext cx="4965192" cy="28346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• Timeline-based — place media on a shared timeline</a:t>
            </a:r>
            <a:br/>
            <a:br/>
            <a:r>
              <a:t>• Event-based — a click or action triggers media</a:t>
            </a:r>
            <a:br/>
            <a:br/>
            <a:r>
              <a:t>• Time-based — schedule an event at a set time</a:t>
            </a:r>
            <a:br/>
            <a:br/>
            <a:r>
              <a:t>• Frame-based — coordinate action with video frames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49240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FFA541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87568"/>
            <a:ext cx="1078992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 Display"/>
              </a:defRPr>
            </a:pPr>
            <a:r>
              <a:t>STORYBOARD = PLAN     •     COMBINE = INTEGRATE     •     SYNCHRONISE = ALIGN TIMING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6437376"/>
            <a:ext cx="1417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0">
                <a:solidFill>
                  <a:srgbClr val="A9BCD2"/>
                </a:solidFill>
                <a:latin typeface="Aptos"/>
              </a:defRPr>
            </a:pPr>
            <a:r>
              <a:t>THANK YOU •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